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1" r:id="rId3"/>
    <p:sldId id="259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4" r:id="rId14"/>
    <p:sldId id="273" r:id="rId15"/>
    <p:sldId id="272" r:id="rId16"/>
    <p:sldId id="270" r:id="rId17"/>
    <p:sldId id="271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12T17:52:28.71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2549 58 24575,'61'0'0,"-21"2"0,0-2 0,0-2 0,78-14 0,-77 9 0,0 2 0,1 1 0,-1 3 0,54 4 0,1 0 0,454-3 0,-530 1 0,-1 1 0,36 9 0,-34-7 0,-1 0 0,28 1 0,159-7 0,83 4 0,-287-1 0,-1-1 0,1 0 0,-1 1 0,0-1 0,1 1 0,-1 0 0,0 0 0,0 0 0,0 0 0,0 0 0,1 0 0,-1 1 0,-1-1 0,1 1 0,0-1 0,0 1 0,-1 0 0,1-1 0,0 1 0,-1 0 0,0 0 0,0 0 0,1 0 0,-1 1 0,0-1 0,1 4 0,1 6 0,-1-1 0,0 1 0,-1 0 0,0 18 0,3 23 0,2-21 0,-3 0 0,0 0 0,-3 41 0,3 32 0,21 28 0,-10-49 0,-9-61 0,-1 0 0,1 28 0,-5 317 0,-2-349 0,0 0 0,-1 0 0,-1 0 0,-12 36 0,9-36 0,2 0 0,0 1 0,1 0 0,-2 31 0,7 343 0,-1-390 0,0 0 0,0-1 0,0 1 0,0-1 0,1 1 0,0-1 0,-1 1 0,1-1 0,0 1 0,1-1 0,-1 0 0,1 1 0,-1-1 0,1 0 0,4 4 0,-5-5 0,1-1 0,0 0 0,0 0 0,0 0 0,0-1 0,-1 1 0,1 0 0,0-1 0,1 1 0,-1-1 0,0 0 0,0 1 0,0-1 0,0 0 0,0-1 0,0 1 0,0 0 0,0 0 0,0-1 0,0 1 0,0-1 0,0 0 0,0 0 0,0 1 0,0-1 0,0 0 0,-1-1 0,3 0 0,23-15 0,37-28 0,-42 28 0,1 1 0,37-19 0,-40 27 0,1 1 0,-1 1 0,1 1 0,0 1 0,1 1 0,-1 0 0,1 2 0,-1 0 0,29 4 0,-10-2 0,-21-2 0,0-1 0,-1 0 0,21-7 0,-18 5 0,0 0 0,25-1 0,-21 4 0,1 2 0,-1 0 0,0 2 0,42 10 0,-34-7 0,48 4 0,4 1 0,-17-3 0,0-3 0,118-7 0,-63 0 0,-78 2 0,88 3 0,-118-2 0,0 1 0,0 1 0,-1 0 0,1 2 0,-1-1 0,24 12 0,-35-14 0,0 0 0,0 1 0,0-1 0,-1 1 0,1 0 0,0-1 0,-1 1 0,0 0 0,0 0 0,0 1 0,0-1 0,0 0 0,-1 1 0,1-1 0,-1 1 0,0 0 0,0-1 0,0 1 0,-1 0 0,1 5 0,1 11 0,-2 0 0,-3 34 0,1-20 0,2-10 0,2 0 0,0 0 0,1 0 0,2-1 0,0 1 0,2-1 0,0 0 0,1-1 0,13 23 0,39 103 0,-49-103 0,-1 1 0,7 87 0,-6-56 0,-6-51 0,-1 1 0,1 27 0,-4-36 0,1-1 0,7 33 0,4 24 0,14 108 0,-16-104 0,-4-33 0,1 68 0,-8-96 0,0 21 0,-1-1 0,-1 1 0,-12 52 0,10-65 0,0 1 0,2-1 0,1 29 0,1-27 0,-1 0 0,-7 40 0,5-56 0,-3 23 0,-2 0 0,-25 63 0,29-88 0,0 0 0,-1 0 0,0 0 0,-1 0 0,0-1 0,0 0 0,-1-1 0,1 1 0,-2-1 0,1 0 0,-1-1 0,0 0 0,-1 0 0,-16 8 0,-41 18 0,-70 29 0,117-55 0,0 0 0,0-1 0,0-1 0,0-1 0,-34 1 0,-124-7 0,-118 6 0,207 9 0,56-6 0,-58 3 0,-1413-9 0,702-2 0,781 1 0,1-1 0,-36-8 0,34 5 0,0 1 0,-26-1 0,-646 3 0,338 5 0,324-3 0,0 0 0,0-3 0,1 0 0,-1-2 0,1-1 0,-38-13 0,51 14 0,0 1 0,0 1 0,0 1 0,0 0 0,-1 1 0,-20 1 0,18 1 0,0-2 0,0 0 0,0-1 0,-20-5 0,12 1 0,-1 2 0,0 1 0,1 1 0,-43 3 0,-42-3 0,42-11 0,52 8 0,0 2 0,-29-3 0,23 6 0,-1-2 0,1 0 0,0-2 0,1-1 0,-1-1 0,-26-9 0,36 10 0,0 1 0,0 1 0,-1 1 0,0 0 0,1 1 0,-20 1 0,17 0 0,0-1 0,-1 0 0,-33-8 0,-2-1 0,40 8 0,-1-1 0,1-1 0,-16-5 0,25 7 0,0 0 0,1-1 0,-1 1 0,1-1 0,0 0 0,0 0 0,0 0 0,0-1 0,0 1 0,1-1 0,0 0 0,-6-9 0,-24-38 0,3-2 0,3-1 0,1-1 0,-20-68 0,38 96 0,-1 1 0,-1 0 0,-24-43 0,26 53 0,2 0 0,0-1 0,0 1 0,2-1 0,0 0 0,-2-26 0,-12-46 0,10 53 0,2-1 0,2 0 0,1 0 0,2-1 0,5-56 0,-1-4 0,-3 60 0,-1 2 0,1 1 0,3-1 0,11-65 0,-1 22 0,-10 59 0,0 0 0,1-1 0,12-35 0,-10 36 0,0 0 0,-1 0 0,-2 0 0,0-1 0,0-22 0,0 13 0,8-45 0,-3 38 0,1-5 0,2-1 0,32-78 0,-40 115 0,-1 0 0,2-1 0,-1 2 0,0-1 0,1 0 0,0 1 0,1 0 0,-1-1 0,1 2 0,0-1 0,0 1 0,1-1 0,-1 1 0,1 1 0,0-1 0,0 1 0,0 0 0,0 0 0,1 1 0,-1 0 0,1 0 0,6-1 0,116-43 0,-16 4 0,-86 34 0,0 1 0,0 2 0,0 0 0,1 2 0,40 0 0,70 2 0,118 4 0,-124 23 0,-88-17 0,45 17 0,-13-4 0,-17-11 0,2-3 0,-1-2 0,1-3 0,91-7 0,-21 2 0,-48 3 0,95-3 0,-175 1 0,-1 1 0,1-1 0,0 0 0,0 0 0,-1 0 0,1 0 0,-1 0 0,1 0 0,-1-1 0,1 1 0,-1-1 0,0 0 0,0 0 0,0 0 0,0 0 0,0 0 0,0 0 0,0-1 0,-1 1 0,1 0 0,-1-1 0,0 1 0,1-1 0,-1 0 0,-1 1 0,1-1 0,0 0 0,-1 0 0,1 1 0,-1-6 0,2-12 0,-1 0 0,-1 1 0,-4-32 0,1 15 0,1-297 0,3 194 0,0 126 0,1 0 0,0-1 0,0 2 0,2-1 0,0 0 0,8-18 0,-7 18 0,0-1 0,0 0 0,-2 0 0,1-1 0,0-15 0,0-6 0,2 1 0,16-54 0,-3 12 0,34-80 0,-44 121 0,-2 0 0,-2 0 0,2-64 0,-9-4 0,4-133 0,-2 235 4,0-1-1,1 1 0,-1-1 1,1 1-1,0-1 0,0 1 1,-1-1-1,2 1 0,-1 0 1,0-1-1,0 1 0,1 0 1,-1 0-1,1 0 0,0 0 0,0 0 1,-1 1-1,1-1 0,0 0 1,0 1-1,1-1 0,-1 1 1,0 0-1,0 0 0,1 0 1,-1 0-1,1 0 0,-1 0 1,1 1-1,-1-1 0,1 1 1,-1-1-1,1 1 0,0 0 1,3 1-1,9-1-300,-1 2 0,0 0 0,1 0 0,26 9 0,-23-5-6529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5/14/2025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5/14/2025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5/14/2025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5/14/2025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5/14/2025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5/14/2025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5/14/2025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5/14/2025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5/14/2025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5/14/2025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5/14/2025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5/14/2025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jpg"/><Relationship Id="rId4" Type="http://schemas.openxmlformats.org/officeDocument/2006/relationships/image" Target="../media/image17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B3EF5-6C95-BA72-C253-9838E1374E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k-SK" dirty="0"/>
              <a:t>3d Horrorová</a:t>
            </a:r>
            <a:br>
              <a:rPr lang="sk-SK" dirty="0"/>
            </a:br>
            <a:r>
              <a:rPr lang="en-AU" dirty="0"/>
              <a:t>Po</a:t>
            </a:r>
            <a:r>
              <a:rPr lang="sk-SK" dirty="0"/>
              <a:t>čítačová hra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535E66-0133-C33F-56F7-B2E8AC05EE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sk-SK" dirty="0"/>
              <a:t>Alex Horváth</a:t>
            </a:r>
          </a:p>
          <a:p>
            <a:r>
              <a:rPr lang="sk-SK" dirty="0"/>
              <a:t>4.D</a:t>
            </a:r>
          </a:p>
          <a:p>
            <a:r>
              <a:rPr lang="sk-SK" dirty="0"/>
              <a:t>PDT</a:t>
            </a:r>
          </a:p>
        </p:txBody>
      </p:sp>
    </p:spTree>
    <p:extLst>
      <p:ext uri="{BB962C8B-B14F-4D97-AF65-F5344CB8AC3E}">
        <p14:creationId xmlns:p14="http://schemas.microsoft.com/office/powerpoint/2010/main" val="577428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F2A04-923E-62B6-4AE6-C5ED2CFE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Motivacia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19DCB1-2BBA-3951-1647-38B50651F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911096"/>
            <a:ext cx="9601200" cy="3956304"/>
          </a:xfrm>
        </p:spPr>
        <p:txBody>
          <a:bodyPr/>
          <a:lstStyle/>
          <a:p>
            <a:pPr marL="0" indent="0">
              <a:buNone/>
            </a:pPr>
            <a:r>
              <a:rPr lang="sk-SK" dirty="0"/>
              <a:t>🎮 Hry sú moje hobby – okrem hrania ma baví aj ich tvorba.</a:t>
            </a:r>
            <a:br>
              <a:rPr lang="sk-SK" dirty="0"/>
            </a:br>
            <a:r>
              <a:rPr lang="sk-SK" dirty="0"/>
              <a:t>👾 Preto som sa rozhodol vytvoriť </a:t>
            </a:r>
            <a:r>
              <a:rPr lang="sk-SK" b="1" dirty="0"/>
              <a:t>3D hororovú hru</a:t>
            </a:r>
            <a:r>
              <a:rPr lang="sk-SK" dirty="0"/>
              <a:t> ako svoj maturitný projekt.</a:t>
            </a:r>
            <a:br>
              <a:rPr lang="sk-SK" dirty="0"/>
            </a:br>
            <a:r>
              <a:rPr lang="sk-SK" dirty="0"/>
              <a:t>🌌 Hororové hry dokážu byť zároveň zábavné aj napínavé, čo mi dáva priestor pre kreativitu.</a:t>
            </a:r>
            <a:br>
              <a:rPr lang="sk-SK" dirty="0"/>
            </a:br>
            <a:r>
              <a:rPr lang="sk-SK" dirty="0"/>
              <a:t>🌲 Najviac ma baví </a:t>
            </a:r>
            <a:r>
              <a:rPr lang="sk-SK" b="1" dirty="0"/>
              <a:t>pracovať na zaujímavom prostredí</a:t>
            </a:r>
            <a:r>
              <a:rPr lang="sk-SK" dirty="0"/>
              <a:t>, budovať atmosféru a vytvoriť niečo, čo hráča pohltí.</a:t>
            </a:r>
            <a:br>
              <a:rPr lang="sk-SK" dirty="0"/>
            </a:br>
            <a:r>
              <a:rPr lang="sk-SK" dirty="0"/>
              <a:t>✨ Mojou motiváciou bolo ukázať, čo všetko som sa naučil, pri niečom, čo ma skutočne baví.</a:t>
            </a:r>
          </a:p>
        </p:txBody>
      </p:sp>
    </p:spTree>
    <p:extLst>
      <p:ext uri="{BB962C8B-B14F-4D97-AF65-F5344CB8AC3E}">
        <p14:creationId xmlns:p14="http://schemas.microsoft.com/office/powerpoint/2010/main" val="3161442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89C66-A03E-87F0-0848-0CFC128CA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749808"/>
          </a:xfrm>
        </p:spPr>
        <p:txBody>
          <a:bodyPr/>
          <a:lstStyle/>
          <a:p>
            <a:r>
              <a:rPr lang="sk-SK" dirty="0"/>
              <a:t> Obsah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DA8D4A9-2C26-A48F-A199-D261AB68E6FC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1298448" y="2220089"/>
            <a:ext cx="3595856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Herné enginy – Porovnanie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Grafické Programy použité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Proces tvorby herného assetu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Textúrovanie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Animácie</a:t>
            </a: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2CE3F7D5-05AB-DB83-9663-5EE6B5E6FCB6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6524625" y="1666094"/>
            <a:ext cx="2864887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9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Game Art Document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9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Level dizajn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9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Interaktívne predmety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9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Game loop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9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UI a Menu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9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Zvuky v hre</a:t>
            </a:r>
            <a:b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sk-SK" altLang="sk-SK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 startAt="9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Marketingová stratégia</a:t>
            </a:r>
          </a:p>
        </p:txBody>
      </p:sp>
    </p:spTree>
    <p:extLst>
      <p:ext uri="{BB962C8B-B14F-4D97-AF65-F5344CB8AC3E}">
        <p14:creationId xmlns:p14="http://schemas.microsoft.com/office/powerpoint/2010/main" val="6483243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0BC9609-A8AF-411F-A9E0-C3B93C8945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C90DDC-7F6B-3268-086D-EBBEB890B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639704"/>
            <a:ext cx="3299579" cy="5577840"/>
          </a:xfrm>
        </p:spPr>
        <p:txBody>
          <a:bodyPr anchor="ctr">
            <a:normAutofit/>
          </a:bodyPr>
          <a:lstStyle/>
          <a:p>
            <a:pPr algn="ctr"/>
            <a:r>
              <a:rPr lang="sk-SK" dirty="0"/>
              <a:t>  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3D8379C-2F5D-0ED5-6EC5-6A7C4349585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65717701"/>
              </p:ext>
            </p:extLst>
          </p:nvPr>
        </p:nvGraphicFramePr>
        <p:xfrm>
          <a:off x="3314700" y="639705"/>
          <a:ext cx="7836393" cy="5577843"/>
        </p:xfrm>
        <a:graphic>
          <a:graphicData uri="http://schemas.openxmlformats.org/drawingml/2006/table">
            <a:tbl>
              <a:tblPr/>
              <a:tblGrid>
                <a:gridCol w="1650720">
                  <a:extLst>
                    <a:ext uri="{9D8B030D-6E8A-4147-A177-3AD203B41FA5}">
                      <a16:colId xmlns:a16="http://schemas.microsoft.com/office/drawing/2014/main" val="1827272654"/>
                    </a:ext>
                  </a:extLst>
                </a:gridCol>
                <a:gridCol w="2090365">
                  <a:extLst>
                    <a:ext uri="{9D8B030D-6E8A-4147-A177-3AD203B41FA5}">
                      <a16:colId xmlns:a16="http://schemas.microsoft.com/office/drawing/2014/main" val="1159237421"/>
                    </a:ext>
                  </a:extLst>
                </a:gridCol>
                <a:gridCol w="1959082">
                  <a:extLst>
                    <a:ext uri="{9D8B030D-6E8A-4147-A177-3AD203B41FA5}">
                      <a16:colId xmlns:a16="http://schemas.microsoft.com/office/drawing/2014/main" val="1752869592"/>
                    </a:ext>
                  </a:extLst>
                </a:gridCol>
                <a:gridCol w="2136226">
                  <a:extLst>
                    <a:ext uri="{9D8B030D-6E8A-4147-A177-3AD203B41FA5}">
                      <a16:colId xmlns:a16="http://schemas.microsoft.com/office/drawing/2014/main" val="1757130994"/>
                    </a:ext>
                  </a:extLst>
                </a:gridCol>
              </a:tblGrid>
              <a:tr h="53466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 dirty="0">
                          <a:effectLst/>
                          <a:latin typeface="Arial" panose="020B0604020202020204" pitchFamily="34" charset="0"/>
                        </a:rPr>
                        <a:t>Funkcia / Engine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1" i="0" u="none" strike="noStrike">
                          <a:effectLst/>
                          <a:latin typeface="Arial" panose="020B0604020202020204" pitchFamily="34" charset="0"/>
                        </a:rPr>
                        <a:t>Unity</a:t>
                      </a:r>
                      <a:endParaRPr lang="sk-SK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1" i="0" u="none" strike="noStrike">
                          <a:effectLst/>
                          <a:latin typeface="Arial" panose="020B0604020202020204" pitchFamily="34" charset="0"/>
                        </a:rPr>
                        <a:t>Unreal Engine</a:t>
                      </a:r>
                      <a:endParaRPr lang="sk-SK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1" i="0" u="none" strike="noStrike">
                          <a:effectLst/>
                          <a:latin typeface="Arial" panose="020B0604020202020204" pitchFamily="34" charset="0"/>
                        </a:rPr>
                        <a:t>Godot</a:t>
                      </a:r>
                      <a:endParaRPr lang="sk-SK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9505293"/>
                  </a:ext>
                </a:extLst>
              </a:tr>
              <a:tr h="75141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1" i="0" u="none" strike="noStrike">
                          <a:effectLst/>
                          <a:latin typeface="Arial" panose="020B0604020202020204" pitchFamily="34" charset="0"/>
                        </a:rPr>
                        <a:t>+ Výhody</a:t>
                      </a:r>
                      <a:endParaRPr lang="sk-SK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Veľká komunita a dokumentácia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Špičková grafika (real-time rendering)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Open-source a ľahký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683216"/>
                  </a:ext>
                </a:extLst>
              </a:tr>
              <a:tr h="968175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1400" b="0" i="0" u="none" strike="noStrike">
                          <a:effectLst/>
                          <a:latin typeface="Arial" panose="020B0604020202020204" pitchFamily="34" charset="0"/>
                        </a:rPr>
                        <a:t>• Podpora 2D aj 3D hier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1400" b="0" i="0" u="none" strike="noStrike">
                          <a:effectLst/>
                          <a:latin typeface="Arial" panose="020B0604020202020204" pitchFamily="34" charset="0"/>
                        </a:rPr>
                        <a:t>• Pokročilé nástroje pre animácie a efekty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Jednoduché UI a ľahká prispôsobiteľnosť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4365319"/>
                  </a:ext>
                </a:extLst>
              </a:tr>
              <a:tr h="75141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4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Množstvo assetov v Asset Store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Blueprinty – vizuálne skriptovanie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Rýchle zostavenie menších projektov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4765019"/>
                  </a:ext>
                </a:extLst>
              </a:tr>
              <a:tr h="53466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1400" b="0" i="0" u="none" strike="noStrike" dirty="0">
                          <a:effectLst/>
                          <a:latin typeface="Arial" panose="020B0604020202020204" pitchFamily="34" charset="0"/>
                        </a:rPr>
                        <a:t>• Funguje dobre aj na slabších PC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Vhodný pre AAA tituly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Veľmi malý inštalačný balík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6282713"/>
                  </a:ext>
                </a:extLst>
              </a:tr>
              <a:tr h="75141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1" i="0" u="none" strike="noStrike">
                          <a:effectLst/>
                          <a:latin typeface="Arial" panose="020B0604020202020204" pitchFamily="34" charset="0"/>
                        </a:rPr>
                        <a:t>– Nevýhody</a:t>
                      </a:r>
                      <a:endParaRPr lang="sk-SK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Mierne horšia kvalita grafiky než Unreal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Veľká hardvérová náročnosť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Slabšia 3D podpora ako Unity/Unreal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1069058"/>
                  </a:ext>
                </a:extLst>
              </a:tr>
              <a:tr h="53466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1400" b="0" i="0" u="none" strike="noStrike">
                          <a:effectLst/>
                          <a:latin typeface="Arial" panose="020B0604020202020204" pitchFamily="34" charset="0"/>
                        </a:rPr>
                        <a:t>• Niektoré funkcie sú za poplatok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Strmšia krivka učenia pre C++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it-IT" sz="1400" b="0" i="0" u="none" strike="noStrike">
                          <a:effectLst/>
                          <a:latin typeface="Arial" panose="020B0604020202020204" pitchFamily="34" charset="0"/>
                        </a:rPr>
                        <a:t>• Menšia komunita a menej assetov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9016992"/>
                  </a:ext>
                </a:extLst>
              </a:tr>
              <a:tr h="751419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endParaRPr lang="sk-SK" sz="14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pl-PL" sz="1400" b="0" i="0" u="none" strike="noStrike">
                          <a:effectLst/>
                          <a:latin typeface="Arial" panose="020B0604020202020204" pitchFamily="34" charset="0"/>
                        </a:rPr>
                        <a:t>• V minulosti kritika za zmeny v licenciách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>
                          <a:effectLst/>
                          <a:latin typeface="Arial" panose="020B0604020202020204" pitchFamily="34" charset="0"/>
                        </a:rPr>
                        <a:t>• Veľký projekt môže byť ťažko optimalizovaný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sk-SK" sz="1400" b="0" i="0" u="none" strike="noStrike" dirty="0">
                          <a:effectLst/>
                          <a:latin typeface="Arial" panose="020B0604020202020204" pitchFamily="34" charset="0"/>
                        </a:rPr>
                        <a:t>• Nevhodný pre náročné grafické projekty</a:t>
                      </a:r>
                    </a:p>
                  </a:txBody>
                  <a:tcPr marL="72252" marR="72252" marT="36126" marB="3612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285427"/>
                  </a:ext>
                </a:extLst>
              </a:tr>
            </a:tbl>
          </a:graphicData>
        </a:graphic>
      </p:graphicFrame>
      <p:sp>
        <p:nvSpPr>
          <p:cNvPr id="8" name="AutoShape 6">
            <a:extLst>
              <a:ext uri="{FF2B5EF4-FFF2-40B4-BE49-F238E27FC236}">
                <a16:creationId xmlns:a16="http://schemas.microsoft.com/office/drawing/2014/main" id="{3EF7E951-5409-4D5B-149F-40BACF2CEC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2157384" y="4428744"/>
            <a:ext cx="1959864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k-SK"/>
          </a:p>
        </p:txBody>
      </p:sp>
      <p:pic>
        <p:nvPicPr>
          <p:cNvPr id="2050" name="Picture 2" descr="Unity logo and symbol, meaning, history, PNG">
            <a:extLst>
              <a:ext uri="{FF2B5EF4-FFF2-40B4-BE49-F238E27FC236}">
                <a16:creationId xmlns:a16="http://schemas.microsoft.com/office/drawing/2014/main" id="{B7DF640E-EFA2-4059-97C6-F1954A9C2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6809" y="693830"/>
            <a:ext cx="2525724" cy="1420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Unreal Engine Branding Guidelines and Trademark Usage">
            <a:extLst>
              <a:ext uri="{FF2B5EF4-FFF2-40B4-BE49-F238E27FC236}">
                <a16:creationId xmlns:a16="http://schemas.microsoft.com/office/drawing/2014/main" id="{1D715E39-A869-0F37-804B-A5E8868DD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1142" y="2168676"/>
            <a:ext cx="1552416" cy="18859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BE8FE6EE-4B1A-E7CD-1FA0-81E7C6A4B7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946" y="4428744"/>
            <a:ext cx="1695450" cy="1695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9540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51FD3-4CCA-BB59-476B-63B69AC562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Vizualné Prostredie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E267B-525A-AD14-D4DD-8A5B92AC3A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sk-SK" dirty="0"/>
              <a:t>Štýl: semi realisticky 3D</a:t>
            </a:r>
          </a:p>
          <a:p>
            <a:endParaRPr lang="sk-SK" dirty="0"/>
          </a:p>
          <a:p>
            <a:r>
              <a:rPr lang="sk-SK" dirty="0"/>
              <a:t>Blender:</a:t>
            </a:r>
          </a:p>
          <a:p>
            <a:r>
              <a:rPr lang="sk-SK" dirty="0"/>
              <a:t>Substancepainter</a:t>
            </a:r>
          </a:p>
          <a:p>
            <a:r>
              <a:rPr lang="sk-SK" dirty="0"/>
              <a:t>Krita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477244B-9785-3939-08AB-D4720D5407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2964" y="1600200"/>
            <a:ext cx="1878011" cy="1650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AutoShape 6" descr="Adobe Substance 3D Logo PNG Vector (EPS, SVG) Free Download">
            <a:extLst>
              <a:ext uri="{FF2B5EF4-FFF2-40B4-BE49-F238E27FC236}">
                <a16:creationId xmlns:a16="http://schemas.microsoft.com/office/drawing/2014/main" id="{22EBF00D-87F9-D323-D577-E687F3636B9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sk-SK"/>
          </a:p>
        </p:txBody>
      </p:sp>
      <p:pic>
        <p:nvPicPr>
          <p:cNvPr id="1040" name="Picture 16">
            <a:extLst>
              <a:ext uri="{FF2B5EF4-FFF2-40B4-BE49-F238E27FC236}">
                <a16:creationId xmlns:a16="http://schemas.microsoft.com/office/drawing/2014/main" id="{D980E821-AC6F-6F67-8B56-665EE593C9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7563" y="2864451"/>
            <a:ext cx="2329575" cy="2600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Krita - Wikipedia">
            <a:extLst>
              <a:ext uri="{FF2B5EF4-FFF2-40B4-BE49-F238E27FC236}">
                <a16:creationId xmlns:a16="http://schemas.microsoft.com/office/drawing/2014/main" id="{4DDD5653-BDA7-CAF8-AFF1-914C39A270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87207" y="885824"/>
            <a:ext cx="2295525" cy="2295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26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3B8EB-27D6-6DCA-4FE0-93B37F094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Proces Tvorby Herneho assetu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120D9-614A-4CB0-B6EE-C36CBCF7C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73936"/>
            <a:ext cx="9601200" cy="3581400"/>
          </a:xfrm>
        </p:spPr>
        <p:txBody>
          <a:bodyPr/>
          <a:lstStyle/>
          <a:p>
            <a:pPr marL="0" indent="0">
              <a:buNone/>
            </a:pPr>
            <a:r>
              <a:rPr lang="sk-SK" dirty="0"/>
              <a:t>Zakladne tvary – sculpting – retopology –Rigging (ak Objekt neni statický)-Uv unwrap</a:t>
            </a:r>
          </a:p>
          <a:p>
            <a:pPr marL="0" indent="0">
              <a:buNone/>
            </a:pPr>
            <a:r>
              <a:rPr lang="sk-SK" dirty="0"/>
              <a:t>-Kontrola normals a scalu – export – program na texturovanie – Import do unity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08B97F-730B-807D-A424-920522733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668" y="4157391"/>
            <a:ext cx="3866813" cy="2395890"/>
          </a:xfrm>
          <a:prstGeom prst="rect">
            <a:avLst/>
          </a:prstGeom>
        </p:spPr>
      </p:pic>
      <p:pic>
        <p:nvPicPr>
          <p:cNvPr id="7" name="Picture 6" descr="A computer generated image of an object&#10;&#10;AI-generated content may be incorrect.">
            <a:extLst>
              <a:ext uri="{FF2B5EF4-FFF2-40B4-BE49-F238E27FC236}">
                <a16:creationId xmlns:a16="http://schemas.microsoft.com/office/drawing/2014/main" id="{1B19A4E3-B3E3-F2C2-6779-38DB166D2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2409" y="5154838"/>
            <a:ext cx="1296347" cy="12963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CFC1EA4-DE9B-D5AC-B8E2-737D69238C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653" y="3952876"/>
            <a:ext cx="1466850" cy="14668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F7B1503-DE6F-C47A-A18F-936E822F2D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8756" y="4783836"/>
            <a:ext cx="1466850" cy="14668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97DF0D7-9203-B534-0464-59CFEE2BBE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6799" y="3911988"/>
            <a:ext cx="3426173" cy="264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4382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2629B3-C550-A06F-7D23-810F0477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Texturovanie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C3CE2D-1D8D-07C5-8FE6-1DC5A55050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724025"/>
            <a:ext cx="9601200" cy="3581400"/>
          </a:xfrm>
        </p:spPr>
        <p:txBody>
          <a:bodyPr/>
          <a:lstStyle/>
          <a:p>
            <a:r>
              <a:rPr lang="sk-SK" dirty="0"/>
              <a:t>V Substance painteri vybakujeme model , pridavame materialy,masky,filtre,kreslíme dokým model nevyzerá podla predstavy –&gt; export textur do formátu pre unity (HDRP)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8DA189-5A0A-676D-CC0A-D8634DFF1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4455" y="2757041"/>
            <a:ext cx="2481420" cy="38585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C22604-C20B-05FC-0AF9-D9E3B54E2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6783" y="2757042"/>
            <a:ext cx="2447648" cy="3858520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03BA134E-7651-6772-0915-6F587DC8065B}"/>
              </a:ext>
            </a:extLst>
          </p:cNvPr>
          <p:cNvSpPr/>
          <p:nvPr/>
        </p:nvSpPr>
        <p:spPr>
          <a:xfrm>
            <a:off x="5724525" y="4371976"/>
            <a:ext cx="1247775" cy="62865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2556204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E0035-2D91-36EA-F357-7D7C86058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3282695" cy="1485900"/>
          </a:xfrm>
        </p:spPr>
        <p:txBody>
          <a:bodyPr>
            <a:normAutofit/>
          </a:bodyPr>
          <a:lstStyle/>
          <a:p>
            <a:r>
              <a:rPr lang="sk-SK" dirty="0"/>
              <a:t>Animacie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21903A-967D-7094-4FAC-F5BE7655DD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3282694" cy="3581400"/>
          </a:xfrm>
        </p:spPr>
        <p:txBody>
          <a:bodyPr>
            <a:normAutofit/>
          </a:bodyPr>
          <a:lstStyle/>
          <a:p>
            <a:r>
              <a:rPr lang="sk-SK" dirty="0"/>
              <a:t>Vytvorenie Kostry </a:t>
            </a:r>
          </a:p>
          <a:p>
            <a:r>
              <a:rPr lang="sk-SK" dirty="0"/>
              <a:t>Priradenie kostry k modelu</a:t>
            </a:r>
          </a:p>
          <a:p>
            <a:r>
              <a:rPr lang="sk-SK" dirty="0"/>
              <a:t>Wightpaint</a:t>
            </a:r>
          </a:p>
          <a:p>
            <a:r>
              <a:rPr lang="sk-SK" dirty="0"/>
              <a:t>Potom animujeme pomocov hybania kostier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1191F4-3EF3-1C8C-BEC2-51E364C368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1467" y="670300"/>
            <a:ext cx="6517065" cy="519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5568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7B012-8DC3-0C2F-57F3-AD9DE3BCC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580" y="685800"/>
            <a:ext cx="4495788" cy="1485900"/>
          </a:xfrm>
        </p:spPr>
        <p:txBody>
          <a:bodyPr>
            <a:normAutofit/>
          </a:bodyPr>
          <a:lstStyle/>
          <a:p>
            <a:r>
              <a:rPr kumimoji="0" lang="sk-SK" altLang="sk-SK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Game Art Document</a:t>
            </a:r>
            <a:endParaRPr lang="sk-S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97329-8255-2EE4-671B-A3E9B0EB64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579" y="2286000"/>
            <a:ext cx="4495788" cy="3886200"/>
          </a:xfrm>
        </p:spPr>
        <p:txBody>
          <a:bodyPr>
            <a:normAutofit fontScale="85000"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📄 </a:t>
            </a:r>
            <a:r>
              <a:rPr lang="sk-SK" b="1" dirty="0"/>
              <a:t>Dokument</a:t>
            </a:r>
            <a:r>
              <a:rPr lang="sk-SK" dirty="0"/>
              <a:t>, ktorý popisuje vizuálnu stránku hry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🖌️ Slúži ako </a:t>
            </a:r>
            <a:r>
              <a:rPr lang="sk-SK" b="1" dirty="0"/>
              <a:t>sprievodca pre grafikov a dizajnérov</a:t>
            </a:r>
            <a:endParaRPr lang="sk-SK" dirty="0"/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🎯 Definuje </a:t>
            </a:r>
            <a:r>
              <a:rPr lang="sk-SK" b="1" dirty="0"/>
              <a:t>štýl, atmosféru a estetiku</a:t>
            </a:r>
            <a:r>
              <a:rPr lang="sk-SK" dirty="0"/>
              <a:t> hry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📷 Obsahuje </a:t>
            </a:r>
            <a:r>
              <a:rPr lang="sk-SK" b="1" dirty="0"/>
              <a:t>referencie, moodboardy a koncepty</a:t>
            </a:r>
            <a:endParaRPr lang="sk-SK" dirty="0"/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🧱 Zameriava sa na </a:t>
            </a:r>
            <a:r>
              <a:rPr lang="sk-SK" b="1" dirty="0"/>
              <a:t>modely, textúry, animácie a UI</a:t>
            </a:r>
            <a:endParaRPr lang="sk-SK" dirty="0"/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🔄 Pomáha udržiavať </a:t>
            </a:r>
            <a:r>
              <a:rPr lang="sk-SK" b="1" dirty="0"/>
              <a:t>vizuálnu konzistenciu</a:t>
            </a:r>
            <a:r>
              <a:rPr lang="sk-SK" dirty="0"/>
              <a:t> počas vývoja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sk-SK" dirty="0"/>
              <a:t>🤝 Zabezpečuje </a:t>
            </a:r>
            <a:r>
              <a:rPr lang="sk-SK" b="1" dirty="0"/>
              <a:t>komunikáciu medzi tímom (grafik – programátor – dizajnér)</a:t>
            </a:r>
            <a:endParaRPr lang="sk-SK" dirty="0"/>
          </a:p>
          <a:p>
            <a:endParaRPr lang="sk-SK" dirty="0"/>
          </a:p>
        </p:txBody>
      </p:sp>
      <p:pic>
        <p:nvPicPr>
          <p:cNvPr id="9" name="Picture 8" descr="A log cabin with a light in the dark&#10;&#10;AI-generated content may be incorrect.">
            <a:extLst>
              <a:ext uri="{FF2B5EF4-FFF2-40B4-BE49-F238E27FC236}">
                <a16:creationId xmlns:a16="http://schemas.microsoft.com/office/drawing/2014/main" id="{E9EBB544-8087-CEE4-72C6-D7D122720D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594" r="4" b="8517"/>
          <a:stretch/>
        </p:blipFill>
        <p:spPr>
          <a:xfrm>
            <a:off x="6102096" y="10"/>
            <a:ext cx="3044952" cy="3438410"/>
          </a:xfrm>
          <a:prstGeom prst="rect">
            <a:avLst/>
          </a:prstGeom>
        </p:spPr>
      </p:pic>
      <p:pic>
        <p:nvPicPr>
          <p:cNvPr id="5" name="Picture 4" descr="A screenshot of a menu&#10;&#10;AI-generated content may be incorrect.">
            <a:extLst>
              <a:ext uri="{FF2B5EF4-FFF2-40B4-BE49-F238E27FC236}">
                <a16:creationId xmlns:a16="http://schemas.microsoft.com/office/drawing/2014/main" id="{ECFC6AF1-CFCB-CD71-19EC-321F3C66C2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240" r="4" b="1871"/>
          <a:stretch/>
        </p:blipFill>
        <p:spPr>
          <a:xfrm>
            <a:off x="9147049" y="-279"/>
            <a:ext cx="3044952" cy="3438420"/>
          </a:xfrm>
          <a:prstGeom prst="rect">
            <a:avLst/>
          </a:prstGeom>
        </p:spPr>
      </p:pic>
      <p:pic>
        <p:nvPicPr>
          <p:cNvPr id="11" name="Picture 10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A0C57579-F29C-7801-82DC-99079A04D20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4191" r="4" b="6358"/>
          <a:stretch/>
        </p:blipFill>
        <p:spPr>
          <a:xfrm>
            <a:off x="6102096" y="3438421"/>
            <a:ext cx="3044952" cy="3419581"/>
          </a:xfrm>
          <a:prstGeom prst="rect">
            <a:avLst/>
          </a:prstGeom>
        </p:spPr>
      </p:pic>
      <p:pic>
        <p:nvPicPr>
          <p:cNvPr id="7" name="Picture 6" descr="A screenshot of a video game&#10;&#10;AI-generated content may be incorrect.">
            <a:extLst>
              <a:ext uri="{FF2B5EF4-FFF2-40B4-BE49-F238E27FC236}">
                <a16:creationId xmlns:a16="http://schemas.microsoft.com/office/drawing/2014/main" id="{19A08DF5-0068-76E2-6628-320A3B6B6D2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4690" r="4" b="15852"/>
          <a:stretch/>
        </p:blipFill>
        <p:spPr>
          <a:xfrm>
            <a:off x="9147048" y="3438144"/>
            <a:ext cx="3044952" cy="3419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9952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83EF7-24DB-59E0-AC81-871012C28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sk-SK" altLang="sk-SK" sz="4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Level dizajn</a:t>
            </a:r>
            <a:endParaRPr lang="sk-S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B60EBE-A95E-4307-7196-D4DE87AB6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539383"/>
            <a:ext cx="3685032" cy="5074634"/>
          </a:xfrm>
        </p:spPr>
        <p:txBody>
          <a:bodyPr/>
          <a:lstStyle/>
          <a:p>
            <a:r>
              <a:rPr lang="sk-SK" dirty="0">
                <a:solidFill>
                  <a:srgbClr val="FFC000"/>
                </a:solidFill>
              </a:rPr>
              <a:t>Pec</a:t>
            </a:r>
          </a:p>
          <a:p>
            <a:r>
              <a:rPr lang="sk-SK" dirty="0"/>
              <a:t>Nepriatel</a:t>
            </a:r>
          </a:p>
          <a:p>
            <a:r>
              <a:rPr lang="sk-SK" dirty="0">
                <a:solidFill>
                  <a:srgbClr val="FF0000"/>
                </a:solidFill>
              </a:rPr>
              <a:t>Dom</a:t>
            </a:r>
          </a:p>
          <a:p>
            <a:r>
              <a:rPr lang="sk-SK" dirty="0">
                <a:solidFill>
                  <a:srgbClr val="00B050"/>
                </a:solidFill>
              </a:rPr>
              <a:t>Drevo</a:t>
            </a:r>
          </a:p>
          <a:p>
            <a:r>
              <a:rPr lang="sk-SK" dirty="0"/>
              <a:t>Nebezpečná zona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8D87F34-A73B-295B-07F1-19B24446C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439" y="847433"/>
            <a:ext cx="6230219" cy="5630061"/>
          </a:xfrm>
          <a:prstGeom prst="rect">
            <a:avLst/>
          </a:prstGeom>
          <a:ln>
            <a:solidFill>
              <a:srgbClr val="00B050"/>
            </a:solidFill>
          </a:ln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BF349773-5916-1788-9181-2F54F6F088E8}"/>
              </a:ext>
            </a:extLst>
          </p:cNvPr>
          <p:cNvSpPr/>
          <p:nvPr/>
        </p:nvSpPr>
        <p:spPr>
          <a:xfrm>
            <a:off x="8559538" y="1070531"/>
            <a:ext cx="735291" cy="716437"/>
          </a:xfrm>
          <a:prstGeom prst="ellipse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F42A641-48ED-601D-4045-4D79BFC59322}"/>
              </a:ext>
            </a:extLst>
          </p:cNvPr>
          <p:cNvSpPr/>
          <p:nvPr/>
        </p:nvSpPr>
        <p:spPr>
          <a:xfrm>
            <a:off x="10018767" y="2171700"/>
            <a:ext cx="1086008" cy="97685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8046308-7595-696D-4081-4F589094D913}"/>
              </a:ext>
            </a:extLst>
          </p:cNvPr>
          <p:cNvSpPr/>
          <p:nvPr/>
        </p:nvSpPr>
        <p:spPr>
          <a:xfrm>
            <a:off x="8208821" y="4916471"/>
            <a:ext cx="1086008" cy="97685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2F30D3A-E0B7-9D9A-2AF1-0E6DD258B200}"/>
              </a:ext>
            </a:extLst>
          </p:cNvPr>
          <p:cNvSpPr/>
          <p:nvPr/>
        </p:nvSpPr>
        <p:spPr>
          <a:xfrm>
            <a:off x="10018767" y="4472820"/>
            <a:ext cx="1086008" cy="97685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B76785EB-4A8D-9C6F-9EEC-C9AE2509695C}"/>
              </a:ext>
            </a:extLst>
          </p:cNvPr>
          <p:cNvSpPr/>
          <p:nvPr/>
        </p:nvSpPr>
        <p:spPr>
          <a:xfrm>
            <a:off x="6315604" y="2171699"/>
            <a:ext cx="1086008" cy="97685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C9C590C-46F9-9D89-151C-419B2A8E30AB}"/>
              </a:ext>
            </a:extLst>
          </p:cNvPr>
          <p:cNvSpPr/>
          <p:nvPr/>
        </p:nvSpPr>
        <p:spPr>
          <a:xfrm>
            <a:off x="7081177" y="2940573"/>
            <a:ext cx="1086008" cy="97685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A8A6490-C42C-58E2-D540-BEA5886C19A9}"/>
                  </a:ext>
                </a:extLst>
              </p14:cNvPr>
              <p14:cNvContentPartPr/>
              <p14:nvPr/>
            </p14:nvContentPartPr>
            <p14:xfrm>
              <a:off x="7323360" y="3137579"/>
              <a:ext cx="2397600" cy="154872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A8A6490-C42C-58E2-D540-BEA5886C19A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17240" y="3131459"/>
                <a:ext cx="2409840" cy="1560960"/>
              </a:xfrm>
              <a:prstGeom prst="rect">
                <a:avLst/>
              </a:prstGeom>
            </p:spPr>
          </p:pic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6CF1CE58-0AA0-C9EB-DBD9-02BE6AA3730B}"/>
              </a:ext>
            </a:extLst>
          </p:cNvPr>
          <p:cNvSpPr/>
          <p:nvPr/>
        </p:nvSpPr>
        <p:spPr>
          <a:xfrm>
            <a:off x="8932757" y="3667027"/>
            <a:ext cx="550607" cy="518474"/>
          </a:xfrm>
          <a:prstGeom prst="ellipse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k-SK"/>
          </a:p>
        </p:txBody>
      </p:sp>
    </p:spTree>
    <p:extLst>
      <p:ext uri="{BB962C8B-B14F-4D97-AF65-F5344CB8AC3E}">
        <p14:creationId xmlns:p14="http://schemas.microsoft.com/office/powerpoint/2010/main" val="5575297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ADE2F-6716-B7FB-69D7-FAC670DE0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Interaktivne predmety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6620E-8FE8-B550-9CD9-83B055AE1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638300"/>
            <a:ext cx="9601200" cy="3581400"/>
          </a:xfrm>
        </p:spPr>
        <p:txBody>
          <a:bodyPr/>
          <a:lstStyle/>
          <a:p>
            <a:r>
              <a:rPr lang="sk-SK" dirty="0"/>
              <a:t>Drevo:</a:t>
            </a:r>
          </a:p>
          <a:p>
            <a:r>
              <a:rPr lang="sk-SK" dirty="0"/>
              <a:t>Pec</a:t>
            </a:r>
          </a:p>
          <a:p>
            <a:r>
              <a:rPr lang="sk-SK" dirty="0"/>
              <a:t>Dvere</a:t>
            </a:r>
          </a:p>
          <a:p>
            <a:r>
              <a:rPr lang="sk-SK" dirty="0"/>
              <a:t>Okna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7EC6D18-DA97-7874-026C-A43CE93250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657" y="1530016"/>
            <a:ext cx="8173591" cy="2372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9A88719-78BD-E594-D2D1-D9A67CCE1F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8725" y="4180061"/>
            <a:ext cx="2667372" cy="22958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E02300-4ECF-C6D5-5C9C-99E1A0EE5B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5885" y="4141955"/>
            <a:ext cx="2548108" cy="237205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8D33BF-468A-72B0-EEBB-281124E440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6868" y="4044007"/>
            <a:ext cx="1883693" cy="260193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041CBAB-61C7-5B30-3C2A-867AF7568F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76492" y="4097034"/>
            <a:ext cx="3152428" cy="2495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80685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54D1E-DD04-782C-36FE-62F2436F5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Gameloop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A0DD4C-0063-9C92-352A-1D204F2656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801368"/>
            <a:ext cx="9601200" cy="4066032"/>
          </a:xfrm>
        </p:spPr>
        <p:txBody>
          <a:bodyPr/>
          <a:lstStyle/>
          <a:p>
            <a:r>
              <a:rPr lang="sk-SK" dirty="0"/>
              <a:t>🔥 </a:t>
            </a:r>
            <a:r>
              <a:rPr lang="sk-SK" b="1" dirty="0"/>
              <a:t>Hráč musí udržiavať teplotu v chatke</a:t>
            </a:r>
            <a:r>
              <a:rPr lang="sk-SK" dirty="0"/>
              <a:t> – ak teplota klesne príliš nízko, zamrzne a hra končí.</a:t>
            </a:r>
            <a:br>
              <a:rPr lang="sk-SK" dirty="0"/>
            </a:br>
            <a:r>
              <a:rPr lang="sk-SK" dirty="0"/>
              <a:t>🌲 </a:t>
            </a:r>
            <a:r>
              <a:rPr lang="sk-SK" b="1" dirty="0"/>
              <a:t>Drevo je jediný zdroj tepla</a:t>
            </a:r>
            <a:r>
              <a:rPr lang="sk-SK" dirty="0"/>
              <a:t>, preto je hráč nútený pravidelne opúšťať bezpečie chaty.</a:t>
            </a:r>
            <a:br>
              <a:rPr lang="sk-SK" dirty="0"/>
            </a:br>
            <a:r>
              <a:rPr lang="sk-SK" dirty="0"/>
              <a:t>👣 </a:t>
            </a:r>
            <a:r>
              <a:rPr lang="sk-SK" b="1" dirty="0"/>
              <a:t>Pohyb po vonkajšom prostredí je riskantný</a:t>
            </a:r>
            <a:r>
              <a:rPr lang="sk-SK" dirty="0"/>
              <a:t> – v lese číha nepriateľ (Windigo), ktorý reaguje na pohyb a hluk.</a:t>
            </a:r>
            <a:br>
              <a:rPr lang="sk-SK" dirty="0"/>
            </a:br>
            <a:r>
              <a:rPr lang="sk-SK" dirty="0"/>
              <a:t>😱 Ak </a:t>
            </a:r>
            <a:r>
              <a:rPr lang="sk-SK" b="1" dirty="0"/>
              <a:t>nepriateľ hráča chytí</a:t>
            </a:r>
            <a:r>
              <a:rPr lang="sk-SK" dirty="0"/>
              <a:t>, hra sa reštartuje od začiatku.</a:t>
            </a:r>
            <a:br>
              <a:rPr lang="sk-SK" dirty="0"/>
            </a:br>
            <a:r>
              <a:rPr lang="sk-SK" dirty="0"/>
              <a:t>🕰️ Hráč musí </a:t>
            </a:r>
            <a:r>
              <a:rPr lang="sk-SK" b="1" dirty="0"/>
              <a:t>strategicky plánovať, kedy ísť po drevo a kedy zostať ukrytý</a:t>
            </a:r>
            <a:r>
              <a:rPr lang="sk-SK" dirty="0"/>
              <a:t>, aby prežil až do rána.</a:t>
            </a:r>
          </a:p>
        </p:txBody>
      </p:sp>
    </p:spTree>
    <p:extLst>
      <p:ext uri="{BB962C8B-B14F-4D97-AF65-F5344CB8AC3E}">
        <p14:creationId xmlns:p14="http://schemas.microsoft.com/office/powerpoint/2010/main" val="2296366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2B454-A854-A08B-B7F9-0B0D5B9EE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115568"/>
          </a:xfrm>
        </p:spPr>
        <p:txBody>
          <a:bodyPr/>
          <a:lstStyle/>
          <a:p>
            <a:r>
              <a:rPr lang="sk-SK" dirty="0"/>
              <a:t>UI a Menu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F795C-E3E7-2138-59EA-59BDFACA0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435608"/>
            <a:ext cx="4535424" cy="3099816"/>
          </a:xfrm>
        </p:spPr>
        <p:txBody>
          <a:bodyPr/>
          <a:lstStyle/>
          <a:p>
            <a:r>
              <a:rPr lang="sk-SK" dirty="0"/>
              <a:t>Tlačitka:</a:t>
            </a:r>
          </a:p>
          <a:p>
            <a:r>
              <a:rPr lang="sk-SK" dirty="0"/>
              <a:t>Play: Spustí hru</a:t>
            </a:r>
          </a:p>
          <a:p>
            <a:r>
              <a:rPr lang="sk-SK" dirty="0"/>
              <a:t>Controls:Zobrazí ovladanie</a:t>
            </a:r>
          </a:p>
          <a:p>
            <a:r>
              <a:rPr lang="sk-SK" dirty="0"/>
              <a:t>Exit:Vypne program</a:t>
            </a:r>
          </a:p>
          <a:p>
            <a:endParaRPr lang="sk-SK" dirty="0"/>
          </a:p>
          <a:p>
            <a:r>
              <a:rPr lang="sk-SK" dirty="0"/>
              <a:t>Štýl menu má pôsobiť desivo aby pri prvom spustený pôsobilo desivo.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4DDD04-8362-EF75-F6B6-FF11F907B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978" y="1121972"/>
            <a:ext cx="5494460" cy="34134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7442D5-B625-8416-EE59-A3BA25BC0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2121" t="13087" r="21825" b="19467"/>
          <a:stretch/>
        </p:blipFill>
        <p:spPr>
          <a:xfrm>
            <a:off x="9670900" y="4882826"/>
            <a:ext cx="1815256" cy="170640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6B61179-4245-A962-10CB-FCCD465240D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505" r="26419"/>
          <a:stretch/>
        </p:blipFill>
        <p:spPr>
          <a:xfrm>
            <a:off x="7584281" y="5222639"/>
            <a:ext cx="1661862" cy="10267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A205E25-BED9-F5A0-25E0-12F50142F0E9}"/>
              </a:ext>
            </a:extLst>
          </p:cNvPr>
          <p:cNvSpPr txBox="1"/>
          <p:nvPr/>
        </p:nvSpPr>
        <p:spPr>
          <a:xfrm>
            <a:off x="1371600" y="4629150"/>
            <a:ext cx="50482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/>
              <a:t>UI: Hlavny ciel Ui je nezaberať vela miesta na obrazovke aby bola zachovaná desivá atmosféra</a:t>
            </a:r>
          </a:p>
        </p:txBody>
      </p:sp>
    </p:spTree>
    <p:extLst>
      <p:ext uri="{BB962C8B-B14F-4D97-AF65-F5344CB8AC3E}">
        <p14:creationId xmlns:p14="http://schemas.microsoft.com/office/powerpoint/2010/main" val="1701778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8AF06-8CBF-2417-F6C7-57B4A5A3A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Zvuky do hry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2B3F776-A2DF-5BA4-D214-F68DCE0BAF7B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2546" y="287274"/>
            <a:ext cx="1500508" cy="2282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3171EDD-A5F5-32A8-CBDA-8DEEF839B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3173685"/>
            <a:ext cx="8801100" cy="3684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D7BA91DC-C0D4-207E-020D-2864B3343A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7085293" y="2849282"/>
            <a:ext cx="1819275" cy="61981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121AF54-D14E-504E-48E7-BA04104AB839}"/>
              </a:ext>
            </a:extLst>
          </p:cNvPr>
          <p:cNvSpPr txBox="1"/>
          <p:nvPr/>
        </p:nvSpPr>
        <p:spPr>
          <a:xfrm>
            <a:off x="1371600" y="1504950"/>
            <a:ext cx="68770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k-SK" dirty="0"/>
              <a:t>Použite programy:Fl studio</a:t>
            </a:r>
          </a:p>
          <a:p>
            <a:r>
              <a:rPr lang="sk-SK" dirty="0"/>
              <a:t>Štýl:Horrova ambientná zvučka</a:t>
            </a:r>
          </a:p>
          <a:p>
            <a:r>
              <a:rPr lang="sk-SK" dirty="0"/>
              <a:t>Ostatné zvuky:Stihnuté z knižnice zvukov a trošku poupravované v Fl studio</a:t>
            </a:r>
          </a:p>
        </p:txBody>
      </p:sp>
    </p:spTree>
    <p:extLst>
      <p:ext uri="{BB962C8B-B14F-4D97-AF65-F5344CB8AC3E}">
        <p14:creationId xmlns:p14="http://schemas.microsoft.com/office/powerpoint/2010/main" val="999713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962BA-BDBC-9F95-86CF-715020ACB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/>
              <a:t>Marketingová stratégia</a:t>
            </a:r>
            <a:endParaRPr lang="sk-SK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E5FEF-178A-D0BF-F464-4917E18B6B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307592" y="1907553"/>
            <a:ext cx="10652760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sk-SK" altLang="sk-S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Cieľová skupina</a:t>
            </a: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fanúšikovia hororových hier, indie hráči, študenti a mladí dospelí (15–30 rokov)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sk-SK" altLang="sk-S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Sociálne siete</a:t>
            </a: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pravidelné príspevky a ukážky na Instagrame, TikToku a YouTube Shorts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sk-SK" altLang="sk-S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Trailer a gameplay videá</a:t>
            </a: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krátke videá s napínavou atmosférou, jump-scare momenty, ukážky prostredia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sk-SK" altLang="sk-S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Itch.io alebo Steam (demo)</a:t>
            </a: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zverejnenie krátkej hrateľnej ukážky pre spätnú väzbu od hráčov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sk-SK" altLang="sk-S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Komunity a fóra</a:t>
            </a: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zdieľanie vývoja na Discord skupinách, Reddite (r/IndieDev, r/HorrorGames)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sk-SK" altLang="sk-S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Zaujímavý názov a ikonické logo</a:t>
            </a: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ľahko zapamätateľné a vizuálne zapôsobí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sk-SK" altLang="sk-SK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Zbieranie spätnej väzby</a:t>
            </a:r>
            <a:r>
              <a:rPr kumimoji="0" lang="sk-SK" altLang="sk-SK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testovanie s hráčmi a zber názorov na vylepšenie</a:t>
            </a:r>
          </a:p>
        </p:txBody>
      </p:sp>
    </p:spTree>
    <p:extLst>
      <p:ext uri="{BB962C8B-B14F-4D97-AF65-F5344CB8AC3E}">
        <p14:creationId xmlns:p14="http://schemas.microsoft.com/office/powerpoint/2010/main" val="648632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99E67-47A0-1135-6436-7BB5AF59F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k-SK" dirty="0"/>
              <a:t>Zhrnutie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F494D-E049-747A-617F-CDA97D8F1B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sk-SK" dirty="0"/>
              <a:t>S výsledkom svojho maturitného projektu som veľmi spokojný.</a:t>
            </a:r>
            <a:br>
              <a:rPr lang="sk-SK" dirty="0"/>
            </a:br>
            <a:r>
              <a:rPr lang="sk-SK" dirty="0"/>
              <a:t>Počas vývoja som využil vela zručnosti čo som sa naučil – nielen po technickej stránke (modelovanie, textúrovanie, programovanie), ale aj v oblasti plánovania a riešenia problémov.</a:t>
            </a:r>
          </a:p>
          <a:p>
            <a:pPr>
              <a:buNone/>
            </a:pPr>
            <a:r>
              <a:rPr lang="sk-SK" dirty="0"/>
              <a:t>Vytvoriť funkčnú 3D hororovú hru od nápadu až po finálnu verziu bola veľká výzva, no zároveň aj skúsenosť, ktorá ma posunula dopredu ako developera.</a:t>
            </a:r>
            <a:br>
              <a:rPr lang="sk-SK" dirty="0"/>
            </a:br>
            <a:r>
              <a:rPr lang="sk-SK" dirty="0"/>
              <a:t>Projekt mi potvrdil, že sa chcem hernému vývoju venovať aj naďalej – možno ho v budúcnosti rozšírim o nové mechaniky, príbeh, alebo sprístupním širšiemu publiku.</a:t>
            </a:r>
          </a:p>
          <a:p>
            <a:r>
              <a:rPr lang="sk-SK" dirty="0"/>
              <a:t>Tento projekt pre mňa neznamená koniec, ale skôr začiatok niečoho väčšieho.</a:t>
            </a:r>
          </a:p>
          <a:p>
            <a:endParaRPr lang="sk-SK" dirty="0"/>
          </a:p>
        </p:txBody>
      </p:sp>
    </p:spTree>
    <p:extLst>
      <p:ext uri="{BB962C8B-B14F-4D97-AF65-F5344CB8AC3E}">
        <p14:creationId xmlns:p14="http://schemas.microsoft.com/office/powerpoint/2010/main" val="39685941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8C89EA62-F38E-4285-A105-C5E1BD3600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2CF6E46A-CCCD-4728-B011-E147B2362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2E2C684B-30C9-4689-A529-EBF1B8ADB2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sk-SK"/>
            </a:p>
          </p:txBody>
        </p:sp>
      </p:grp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ABA7F3F-D56F-4C06-84AC-03FC83B06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15374B5-D7C8-4AA9-BE65-DB7A0CA9B4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5" name="Freeform 6">
              <a:extLst>
                <a:ext uri="{FF2B5EF4-FFF2-40B4-BE49-F238E27FC236}">
                  <a16:creationId xmlns:a16="http://schemas.microsoft.com/office/drawing/2014/main" id="{C73A7452-ED0F-4903-A620-8D103E556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sk-SK"/>
            </a:p>
          </p:txBody>
        </p:sp>
        <p:sp>
          <p:nvSpPr>
            <p:cNvPr id="16" name="Freeform 6">
              <a:extLst>
                <a:ext uri="{FF2B5EF4-FFF2-40B4-BE49-F238E27FC236}">
                  <a16:creationId xmlns:a16="http://schemas.microsoft.com/office/drawing/2014/main" id="{F6A3F6CE-D581-4C37-8822-4F4A68325E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accent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sk-SK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8CE8247-60CA-3955-5A3D-54FF3C5A54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5128" y="1788454"/>
            <a:ext cx="8361229" cy="209822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sk-SK" sz="7200" cap="all" dirty="0"/>
              <a:t>Ďakujem za pozornosť</a:t>
            </a:r>
            <a:endParaRPr lang="en-US" sz="7200" cap="all" dirty="0"/>
          </a:p>
        </p:txBody>
      </p:sp>
    </p:spTree>
    <p:extLst>
      <p:ext uri="{BB962C8B-B14F-4D97-AF65-F5344CB8AC3E}">
        <p14:creationId xmlns:p14="http://schemas.microsoft.com/office/powerpoint/2010/main" val="6149709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{80243212-BEB8-47B3-BEE7-A1387C29DFE5}tf10001105</Template>
  <TotalTime>1952</TotalTime>
  <Words>843</Words>
  <Application>Microsoft Office PowerPoint</Application>
  <PresentationFormat>Widescreen</PresentationFormat>
  <Paragraphs>111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Franklin Gothic Book</vt:lpstr>
      <vt:lpstr>Crop</vt:lpstr>
      <vt:lpstr>3d Horrorová Počítačová hra</vt:lpstr>
      <vt:lpstr>Motivacia</vt:lpstr>
      <vt:lpstr> Obsah</vt:lpstr>
      <vt:lpstr>  </vt:lpstr>
      <vt:lpstr>Vizualné Prostredie</vt:lpstr>
      <vt:lpstr>Proces Tvorby Herneho assetu</vt:lpstr>
      <vt:lpstr>Texturovanie</vt:lpstr>
      <vt:lpstr>Animacie</vt:lpstr>
      <vt:lpstr>Game Art Document</vt:lpstr>
      <vt:lpstr>Level dizajn</vt:lpstr>
      <vt:lpstr>Interaktivne predmety</vt:lpstr>
      <vt:lpstr>Gameloop</vt:lpstr>
      <vt:lpstr>UI a Menu</vt:lpstr>
      <vt:lpstr>Zvuky do hry</vt:lpstr>
      <vt:lpstr>Marketingová stratégia</vt:lpstr>
      <vt:lpstr>Zhrnutie</vt:lpstr>
      <vt:lpstr>Ďakujem za pozornosť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Horvath Alex</dc:creator>
  <cp:lastModifiedBy>Horvath Alex</cp:lastModifiedBy>
  <cp:revision>15</cp:revision>
  <dcterms:created xsi:type="dcterms:W3CDTF">2025-05-02T15:58:34Z</dcterms:created>
  <dcterms:modified xsi:type="dcterms:W3CDTF">2025-05-14T19:58:04Z</dcterms:modified>
</cp:coreProperties>
</file>